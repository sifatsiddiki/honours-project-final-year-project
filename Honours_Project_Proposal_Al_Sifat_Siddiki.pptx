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491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B"/>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4572000" cy="274320"/>
          </a:xfrm>
          <a:prstGeom prst="rect">
            <a:avLst/>
          </a:prstGeom>
          <a:noFill/>
          <a:ln/>
        </p:spPr>
        <p:txBody>
          <a:bodyPr wrap="square" lIns="0" tIns="0" rIns="0" bIns="0" rtlCol="0" anchor="ctr"/>
          <a:lstStyle/>
          <a:p>
            <a:pPr marL="0" indent="0">
              <a:buNone/>
            </a:pPr>
            <a:r>
              <a:rPr lang="en-US" sz="1100" b="1" kern="0" spc="300" dirty="0">
                <a:solidFill>
                  <a:srgbClr val="F2A93B"/>
                </a:solidFill>
                <a:latin typeface="Calibri" pitchFamily="34" charset="0"/>
                <a:ea typeface="Calibri" pitchFamily="34" charset="-122"/>
                <a:cs typeface="Calibri" pitchFamily="34" charset="-120"/>
              </a:rPr>
              <a:t>HONOURS PROJECT PROPOSAL</a:t>
            </a:r>
            <a:endParaRPr lang="en-US" sz="1100" dirty="0"/>
          </a:p>
        </p:txBody>
      </p:sp>
      <p:sp>
        <p:nvSpPr>
          <p:cNvPr id="3" name="Text 1"/>
          <p:cNvSpPr txBox="1"/>
          <p:nvPr/>
        </p:nvSpPr>
        <p:spPr>
          <a:xfrm>
            <a:off x="548640" y="914400"/>
            <a:ext cx="4572000" cy="173736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Skills Predictions from Resume and Matching with Job Posting using Large Language Models</a:t>
            </a:r>
            <a:endParaRPr lang="en-US" sz="2400" dirty="0"/>
          </a:p>
        </p:txBody>
      </p:sp>
      <p:sp>
        <p:nvSpPr>
          <p:cNvPr id="4" name="Text 2"/>
          <p:cNvSpPr txBox="1"/>
          <p:nvPr/>
        </p:nvSpPr>
        <p:spPr>
          <a:xfrm>
            <a:off x="548640" y="3017520"/>
            <a:ext cx="4572000" cy="1463040"/>
          </a:xfrm>
          <a:prstGeom prst="rect">
            <a:avLst/>
          </a:prstGeom>
          <a:noFill/>
          <a:ln/>
        </p:spPr>
        <p:txBody>
          <a:bodyPr wrap="square" lIns="0" tIns="0" rIns="0" bIns="0" rtlCol="0" anchor="t"/>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Al Sifat Siddiki</a:t>
            </a:r>
            <a:endParaRPr lang="en-US" sz="1250" dirty="0"/>
          </a:p>
          <a:p>
            <a:pPr marL="0" indent="0">
              <a:spcAft>
                <a:spcPts val="400"/>
              </a:spcAft>
              <a:buNone/>
            </a:pPr>
            <a:r>
              <a:rPr lang="en-US" sz="1250" dirty="0">
                <a:solidFill>
                  <a:srgbClr val="CFE3E4"/>
                </a:solidFill>
                <a:latin typeface="Calibri" pitchFamily="34" charset="0"/>
                <a:ea typeface="Calibri" pitchFamily="34" charset="-122"/>
                <a:cs typeface="Calibri" pitchFamily="34" charset="-120"/>
              </a:rPr>
              <a:t>Student ID: 40735842</a:t>
            </a:r>
            <a:endParaRPr lang="en-US" sz="1250" dirty="0"/>
          </a:p>
          <a:p>
            <a:pPr marL="0" indent="0">
              <a:spcAft>
                <a:spcPts val="400"/>
              </a:spcAft>
              <a:buNone/>
            </a:pPr>
            <a:r>
              <a:rPr lang="en-US" sz="1250" dirty="0">
                <a:solidFill>
                  <a:srgbClr val="CFE3E4"/>
                </a:solidFill>
                <a:latin typeface="Calibri" pitchFamily="34" charset="0"/>
                <a:ea typeface="Calibri" pitchFamily="34" charset="-122"/>
                <a:cs typeface="Calibri" pitchFamily="34" charset="-120"/>
              </a:rPr>
              <a:t>Computer Science (AI), Edinburgh Napier University</a:t>
            </a:r>
            <a:endParaRPr lang="en-US" sz="1250" dirty="0"/>
          </a:p>
          <a:p>
            <a:pPr marL="0" indent="0">
              <a:spcAft>
                <a:spcPts val="400"/>
              </a:spcAft>
              <a:buNone/>
            </a:pPr>
            <a:r>
              <a:rPr lang="en-US" sz="1250" dirty="0">
                <a:solidFill>
                  <a:srgbClr val="CFE3E4"/>
                </a:solidFill>
                <a:latin typeface="Calibri" pitchFamily="34" charset="0"/>
                <a:ea typeface="Calibri" pitchFamily="34" charset="-122"/>
                <a:cs typeface="Calibri" pitchFamily="34" charset="-120"/>
              </a:rPr>
              <a:t>Supervisor: Dr Md Zia Ullah</a:t>
            </a:r>
            <a:endParaRPr lang="en-US" sz="1250" dirty="0"/>
          </a:p>
          <a:p>
            <a:pPr marL="0" indent="0">
              <a:spcAft>
                <a:spcPts val="400"/>
              </a:spcAft>
              <a:buNone/>
            </a:pPr>
            <a:r>
              <a:rPr lang="en-US" sz="1250" dirty="0">
                <a:solidFill>
                  <a:srgbClr val="CFE3E4"/>
                </a:solidFill>
                <a:latin typeface="Calibri" pitchFamily="34" charset="0"/>
                <a:ea typeface="Calibri" pitchFamily="34" charset="-122"/>
                <a:cs typeface="Calibri" pitchFamily="34" charset="-120"/>
              </a:rPr>
              <a:t>Second Marker: Dr Dimitra </a:t>
            </a:r>
            <a:r>
              <a:rPr lang="en-US" sz="1250" dirty="0" err="1">
                <a:solidFill>
                  <a:srgbClr val="CFE3E4"/>
                </a:solidFill>
                <a:latin typeface="Calibri" pitchFamily="34" charset="0"/>
                <a:ea typeface="Calibri" pitchFamily="34" charset="-122"/>
                <a:cs typeface="Calibri" pitchFamily="34" charset="-120"/>
              </a:rPr>
              <a:t>Gkatzia</a:t>
            </a:r>
            <a:endParaRPr lang="en-US" sz="1250" dirty="0">
              <a:solidFill>
                <a:srgbClr val="CFE3E4"/>
              </a:solidFill>
              <a:latin typeface="Calibri" pitchFamily="34" charset="0"/>
              <a:ea typeface="Calibri" pitchFamily="34" charset="-122"/>
              <a:cs typeface="Calibri" pitchFamily="34" charset="-120"/>
            </a:endParaRPr>
          </a:p>
          <a:p>
            <a:pPr marL="0" indent="0">
              <a:spcAft>
                <a:spcPts val="400"/>
              </a:spcAft>
              <a:buNone/>
            </a:pPr>
            <a:r>
              <a:rPr lang="en-US" sz="1250" dirty="0">
                <a:solidFill>
                  <a:srgbClr val="CFE3E4"/>
                </a:solidFill>
                <a:latin typeface="Calibri" pitchFamily="34" charset="0"/>
                <a:cs typeface="Calibri" pitchFamily="34" charset="-120"/>
              </a:rPr>
              <a:t>Date:01/10/2026</a:t>
            </a:r>
            <a:endParaRPr lang="en-US" sz="1250" dirty="0"/>
          </a:p>
        </p:txBody>
      </p:sp>
      <p:sp>
        <p:nvSpPr>
          <p:cNvPr id="5" name="Shape 3"/>
          <p:cNvSpPr/>
          <p:nvPr/>
        </p:nvSpPr>
        <p:spPr>
          <a:xfrm>
            <a:off x="5486400" y="640080"/>
            <a:ext cx="3108960" cy="960120"/>
          </a:xfrm>
          <a:prstGeom prst="roundRect">
            <a:avLst>
              <a:gd name="adj" fmla="val 7619"/>
            </a:avLst>
          </a:prstGeom>
          <a:solidFill>
            <a:srgbClr val="1E5560"/>
          </a:solidFill>
          <a:ln w="9525">
            <a:solidFill>
              <a:srgbClr val="2E7480"/>
            </a:solidFill>
            <a:prstDash val="solid"/>
          </a:ln>
        </p:spPr>
      </p:sp>
      <p:sp>
        <p:nvSpPr>
          <p:cNvPr id="6" name="Text 4"/>
          <p:cNvSpPr txBox="1"/>
          <p:nvPr/>
        </p:nvSpPr>
        <p:spPr>
          <a:xfrm>
            <a:off x="5669280" y="749808"/>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Resume</a:t>
            </a:r>
            <a:endParaRPr lang="en-US" sz="1600" dirty="0"/>
          </a:p>
        </p:txBody>
      </p:sp>
      <p:sp>
        <p:nvSpPr>
          <p:cNvPr id="7" name="Text 5"/>
          <p:cNvSpPr txBox="1"/>
          <p:nvPr/>
        </p:nvSpPr>
        <p:spPr>
          <a:xfrm>
            <a:off x="5669280" y="1170432"/>
            <a:ext cx="2743200" cy="274320"/>
          </a:xfrm>
          <a:prstGeom prst="rect">
            <a:avLst/>
          </a:prstGeom>
          <a:noFill/>
          <a:ln/>
        </p:spPr>
        <p:txBody>
          <a:bodyPr wrap="square" lIns="0" tIns="0" rIns="0" bIns="0" rtlCol="0" anchor="ctr"/>
          <a:lstStyle/>
          <a:p>
            <a:pPr marL="0" indent="0">
              <a:buNone/>
            </a:pPr>
            <a:r>
              <a:rPr lang="en-US" sz="1100" dirty="0">
                <a:solidFill>
                  <a:srgbClr val="CFE3E4"/>
                </a:solidFill>
                <a:latin typeface="Calibri" pitchFamily="34" charset="0"/>
                <a:ea typeface="Calibri" pitchFamily="34" charset="-122"/>
                <a:cs typeface="Calibri" pitchFamily="34" charset="-120"/>
              </a:rPr>
              <a:t>Skills written and implied</a:t>
            </a:r>
            <a:endParaRPr lang="en-US" sz="1100" dirty="0"/>
          </a:p>
        </p:txBody>
      </p:sp>
      <p:sp>
        <p:nvSpPr>
          <p:cNvPr id="8" name="Shape 6"/>
          <p:cNvSpPr/>
          <p:nvPr/>
        </p:nvSpPr>
        <p:spPr>
          <a:xfrm>
            <a:off x="6903720" y="1645920"/>
            <a:ext cx="274320" cy="320040"/>
          </a:xfrm>
          <a:prstGeom prst="downArrow">
            <a:avLst/>
          </a:prstGeom>
          <a:solidFill>
            <a:srgbClr val="F2A93B"/>
          </a:solidFill>
          <a:ln w="12700">
            <a:solidFill>
              <a:srgbClr val="F2A93B"/>
            </a:solidFill>
            <a:prstDash val="solid"/>
          </a:ln>
        </p:spPr>
      </p:sp>
      <p:sp>
        <p:nvSpPr>
          <p:cNvPr id="9" name="Shape 7"/>
          <p:cNvSpPr/>
          <p:nvPr/>
        </p:nvSpPr>
        <p:spPr>
          <a:xfrm>
            <a:off x="5486400" y="2011680"/>
            <a:ext cx="3108960" cy="960120"/>
          </a:xfrm>
          <a:prstGeom prst="roundRect">
            <a:avLst>
              <a:gd name="adj" fmla="val 7619"/>
            </a:avLst>
          </a:prstGeom>
          <a:solidFill>
            <a:srgbClr val="F2A93B"/>
          </a:solidFill>
          <a:ln w="9525">
            <a:solidFill>
              <a:srgbClr val="F2A93B"/>
            </a:solidFill>
            <a:prstDash val="solid"/>
          </a:ln>
        </p:spPr>
      </p:sp>
      <p:sp>
        <p:nvSpPr>
          <p:cNvPr id="10" name="Text 8"/>
          <p:cNvSpPr txBox="1"/>
          <p:nvPr/>
        </p:nvSpPr>
        <p:spPr>
          <a:xfrm>
            <a:off x="5669280" y="2121408"/>
            <a:ext cx="2743200" cy="365760"/>
          </a:xfrm>
          <a:prstGeom prst="rect">
            <a:avLst/>
          </a:prstGeom>
          <a:noFill/>
          <a:ln/>
        </p:spPr>
        <p:txBody>
          <a:bodyPr wrap="square" lIns="0" tIns="0" rIns="0" bIns="0" rtlCol="0" anchor="ctr"/>
          <a:lstStyle/>
          <a:p>
            <a:pPr marL="0" indent="0">
              <a:buNone/>
            </a:pPr>
            <a:r>
              <a:rPr lang="en-US" sz="1600" b="1" dirty="0">
                <a:solidFill>
                  <a:srgbClr val="12343B"/>
                </a:solidFill>
                <a:latin typeface="Cambria" pitchFamily="34" charset="0"/>
                <a:ea typeface="Cambria" pitchFamily="34" charset="-122"/>
                <a:cs typeface="Cambria" pitchFamily="34" charset="-120"/>
              </a:rPr>
              <a:t>LLM</a:t>
            </a:r>
            <a:endParaRPr lang="en-US" sz="1600" dirty="0"/>
          </a:p>
        </p:txBody>
      </p:sp>
      <p:sp>
        <p:nvSpPr>
          <p:cNvPr id="11" name="Text 9"/>
          <p:cNvSpPr txBox="1"/>
          <p:nvPr/>
        </p:nvSpPr>
        <p:spPr>
          <a:xfrm>
            <a:off x="5669280" y="2542032"/>
            <a:ext cx="2743200" cy="274320"/>
          </a:xfrm>
          <a:prstGeom prst="rect">
            <a:avLst/>
          </a:prstGeom>
          <a:noFill/>
          <a:ln/>
        </p:spPr>
        <p:txBody>
          <a:bodyPr wrap="square" lIns="0" tIns="0" rIns="0" bIns="0" rtlCol="0" anchor="ctr"/>
          <a:lstStyle/>
          <a:p>
            <a:pPr marL="0" indent="0">
              <a:buNone/>
            </a:pPr>
            <a:r>
              <a:rPr lang="en-US" sz="1100" dirty="0">
                <a:solidFill>
                  <a:srgbClr val="12343B"/>
                </a:solidFill>
                <a:latin typeface="Calibri" pitchFamily="34" charset="0"/>
                <a:ea typeface="Calibri" pitchFamily="34" charset="-122"/>
                <a:cs typeface="Calibri" pitchFamily="34" charset="-120"/>
              </a:rPr>
              <a:t>Predicts and explains skills</a:t>
            </a:r>
            <a:endParaRPr lang="en-US" sz="1100" dirty="0"/>
          </a:p>
        </p:txBody>
      </p:sp>
      <p:sp>
        <p:nvSpPr>
          <p:cNvPr id="12" name="Shape 10"/>
          <p:cNvSpPr/>
          <p:nvPr/>
        </p:nvSpPr>
        <p:spPr>
          <a:xfrm>
            <a:off x="6903720" y="3017520"/>
            <a:ext cx="274320" cy="320040"/>
          </a:xfrm>
          <a:prstGeom prst="downArrow">
            <a:avLst/>
          </a:prstGeom>
          <a:solidFill>
            <a:srgbClr val="F2A93B"/>
          </a:solidFill>
          <a:ln w="12700">
            <a:solidFill>
              <a:srgbClr val="F2A93B"/>
            </a:solidFill>
            <a:prstDash val="solid"/>
          </a:ln>
        </p:spPr>
      </p:sp>
      <p:sp>
        <p:nvSpPr>
          <p:cNvPr id="13" name="Shape 11"/>
          <p:cNvSpPr/>
          <p:nvPr/>
        </p:nvSpPr>
        <p:spPr>
          <a:xfrm>
            <a:off x="5486400" y="3383280"/>
            <a:ext cx="3108960" cy="960120"/>
          </a:xfrm>
          <a:prstGeom prst="roundRect">
            <a:avLst>
              <a:gd name="adj" fmla="val 7619"/>
            </a:avLst>
          </a:prstGeom>
          <a:solidFill>
            <a:srgbClr val="1E5560"/>
          </a:solidFill>
          <a:ln w="9525">
            <a:solidFill>
              <a:srgbClr val="2E7480"/>
            </a:solidFill>
            <a:prstDash val="solid"/>
          </a:ln>
        </p:spPr>
      </p:sp>
      <p:sp>
        <p:nvSpPr>
          <p:cNvPr id="14" name="Text 12"/>
          <p:cNvSpPr txBox="1"/>
          <p:nvPr/>
        </p:nvSpPr>
        <p:spPr>
          <a:xfrm>
            <a:off x="5669280" y="3493008"/>
            <a:ext cx="2743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Job posting</a:t>
            </a:r>
            <a:endParaRPr lang="en-US" sz="1600" dirty="0"/>
          </a:p>
        </p:txBody>
      </p:sp>
      <p:sp>
        <p:nvSpPr>
          <p:cNvPr id="15" name="Text 13"/>
          <p:cNvSpPr txBox="1"/>
          <p:nvPr/>
        </p:nvSpPr>
        <p:spPr>
          <a:xfrm>
            <a:off x="5669280" y="3913632"/>
            <a:ext cx="2743200" cy="274320"/>
          </a:xfrm>
          <a:prstGeom prst="rect">
            <a:avLst/>
          </a:prstGeom>
          <a:noFill/>
          <a:ln/>
        </p:spPr>
        <p:txBody>
          <a:bodyPr wrap="square" lIns="0" tIns="0" rIns="0" bIns="0" rtlCol="0" anchor="ctr"/>
          <a:lstStyle/>
          <a:p>
            <a:pPr marL="0" indent="0">
              <a:buNone/>
            </a:pPr>
            <a:r>
              <a:rPr lang="en-US" sz="1100" dirty="0">
                <a:solidFill>
                  <a:srgbClr val="CFE3E4"/>
                </a:solidFill>
                <a:latin typeface="Calibri" pitchFamily="34" charset="0"/>
                <a:ea typeface="Calibri" pitchFamily="34" charset="-122"/>
                <a:cs typeface="Calibri" pitchFamily="34" charset="-120"/>
              </a:rPr>
              <a:t>Skills the role needs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ctr"/>
          <a:lstStyle/>
          <a:p>
            <a:pPr marL="0" indent="0">
              <a:buNone/>
            </a:pPr>
            <a:r>
              <a:rPr lang="en-US" sz="2800" b="1" dirty="0">
                <a:solidFill>
                  <a:srgbClr val="12343B"/>
                </a:solidFill>
                <a:latin typeface="Cambria" pitchFamily="34" charset="0"/>
                <a:ea typeface="Cambria" pitchFamily="34" charset="-122"/>
                <a:cs typeface="Cambria" pitchFamily="34" charset="-120"/>
              </a:rPr>
              <a:t>The problem and the aim</a:t>
            </a:r>
            <a:endParaRPr lang="en-US" sz="2800" dirty="0"/>
          </a:p>
        </p:txBody>
      </p:sp>
      <p:sp>
        <p:nvSpPr>
          <p:cNvPr id="3" name="Text 1"/>
          <p:cNvSpPr txBox="1"/>
          <p:nvPr/>
        </p:nvSpPr>
        <p:spPr>
          <a:xfrm>
            <a:off x="548640" y="914400"/>
            <a:ext cx="8046720" cy="320040"/>
          </a:xfrm>
          <a:prstGeom prst="rect">
            <a:avLst/>
          </a:prstGeom>
          <a:noFill/>
          <a:ln/>
        </p:spPr>
        <p:txBody>
          <a:bodyPr wrap="square" lIns="0" tIns="0" rIns="0" bIns="0" rtlCol="0" anchor="ctr"/>
          <a:lstStyle/>
          <a:p>
            <a:pPr marL="0" indent="0">
              <a:buNone/>
            </a:pPr>
            <a:r>
              <a:rPr lang="en-US" sz="1400" dirty="0">
                <a:solidFill>
                  <a:srgbClr val="1F6F78"/>
                </a:solidFill>
                <a:latin typeface="Calibri" pitchFamily="34" charset="0"/>
                <a:ea typeface="Calibri" pitchFamily="34" charset="-122"/>
                <a:cs typeface="Calibri" pitchFamily="34" charset="-120"/>
              </a:rPr>
              <a:t>Hiring teams read thousands of CVs. Skills hide between the lines.</a:t>
            </a:r>
            <a:endParaRPr lang="en-US" sz="1400" dirty="0"/>
          </a:p>
        </p:txBody>
      </p:sp>
      <p:sp>
        <p:nvSpPr>
          <p:cNvPr id="4" name="Shape 2"/>
          <p:cNvSpPr/>
          <p:nvPr/>
        </p:nvSpPr>
        <p:spPr>
          <a:xfrm>
            <a:off x="548640" y="1508760"/>
            <a:ext cx="2514600" cy="3017520"/>
          </a:xfrm>
          <a:prstGeom prst="roundRect">
            <a:avLst>
              <a:gd name="adj" fmla="val 2909"/>
            </a:avLst>
          </a:prstGeom>
          <a:solidFill>
            <a:srgbClr val="FFFFFF"/>
          </a:solidFill>
          <a:ln w="9525">
            <a:solidFill>
              <a:srgbClr val="D5E0E1"/>
            </a:solidFill>
            <a:prstDash val="solid"/>
          </a:ln>
        </p:spPr>
      </p:sp>
      <p:sp>
        <p:nvSpPr>
          <p:cNvPr id="5" name="Text 3"/>
          <p:cNvSpPr txBox="1"/>
          <p:nvPr/>
        </p:nvSpPr>
        <p:spPr>
          <a:xfrm>
            <a:off x="731520" y="1645920"/>
            <a:ext cx="2148840" cy="365760"/>
          </a:xfrm>
          <a:prstGeom prst="rect">
            <a:avLst/>
          </a:prstGeom>
          <a:noFill/>
          <a:ln/>
        </p:spPr>
        <p:txBody>
          <a:bodyPr wrap="square" lIns="0" tIns="0" rIns="0" bIns="0" rtlCol="0" anchor="ctr"/>
          <a:lstStyle/>
          <a:p>
            <a:pPr marL="0" indent="0">
              <a:buNone/>
            </a:pPr>
            <a:r>
              <a:rPr lang="en-US" sz="1600" b="1" dirty="0">
                <a:solidFill>
                  <a:srgbClr val="1F6F78"/>
                </a:solidFill>
                <a:latin typeface="Cambria" pitchFamily="34" charset="0"/>
                <a:ea typeface="Cambria" pitchFamily="34" charset="-122"/>
                <a:cs typeface="Cambria" pitchFamily="34" charset="-120"/>
              </a:rPr>
              <a:t>The problem</a:t>
            </a:r>
            <a:endParaRPr lang="en-US" sz="1600" dirty="0"/>
          </a:p>
        </p:txBody>
      </p:sp>
      <p:sp>
        <p:nvSpPr>
          <p:cNvPr id="6" name="Text 4"/>
          <p:cNvSpPr txBox="1"/>
          <p:nvPr/>
        </p:nvSpPr>
        <p:spPr>
          <a:xfrm>
            <a:off x="731520" y="2103120"/>
            <a:ext cx="2148840" cy="2286000"/>
          </a:xfrm>
          <a:prstGeom prst="rect">
            <a:avLst/>
          </a:prstGeom>
          <a:noFill/>
          <a:ln/>
        </p:spPr>
        <p:txBody>
          <a:bodyPr wrap="square" lIns="0" tIns="0" rIns="0" bIns="0" rtlCol="0" anchor="t"/>
          <a:lstStyle/>
          <a:p>
            <a:pPr marL="0" indent="0">
              <a:spcAft>
                <a:spcPts val="500"/>
              </a:spcAft>
              <a:buNone/>
            </a:pPr>
            <a:r>
              <a:rPr lang="en-US" sz="1250" dirty="0">
                <a:solidFill>
                  <a:srgbClr val="2B3A3D"/>
                </a:solidFill>
                <a:latin typeface="Calibri" pitchFamily="34" charset="0"/>
                <a:ea typeface="Calibri" pitchFamily="34" charset="-122"/>
                <a:cs typeface="Calibri" pitchFamily="34" charset="-120"/>
              </a:rPr>
              <a:t>A CV may list Python, TensorFlow and scikit-learn but never write "machine learning". Keyword search misses that candidate. Job posts also leave out skills they need.</a:t>
            </a:r>
            <a:endParaRPr lang="en-US" sz="1250" dirty="0"/>
          </a:p>
        </p:txBody>
      </p:sp>
      <p:sp>
        <p:nvSpPr>
          <p:cNvPr id="7" name="Shape 5"/>
          <p:cNvSpPr/>
          <p:nvPr/>
        </p:nvSpPr>
        <p:spPr>
          <a:xfrm>
            <a:off x="3246120" y="1508760"/>
            <a:ext cx="2514600" cy="3017520"/>
          </a:xfrm>
          <a:prstGeom prst="roundRect">
            <a:avLst>
              <a:gd name="adj" fmla="val 2909"/>
            </a:avLst>
          </a:prstGeom>
          <a:solidFill>
            <a:srgbClr val="FFFFFF"/>
          </a:solidFill>
          <a:ln w="9525">
            <a:solidFill>
              <a:srgbClr val="D5E0E1"/>
            </a:solidFill>
            <a:prstDash val="solid"/>
          </a:ln>
        </p:spPr>
      </p:sp>
      <p:sp>
        <p:nvSpPr>
          <p:cNvPr id="8" name="Text 6"/>
          <p:cNvSpPr txBox="1"/>
          <p:nvPr/>
        </p:nvSpPr>
        <p:spPr>
          <a:xfrm>
            <a:off x="3429000" y="1645920"/>
            <a:ext cx="2148840" cy="365760"/>
          </a:xfrm>
          <a:prstGeom prst="rect">
            <a:avLst/>
          </a:prstGeom>
          <a:noFill/>
          <a:ln/>
        </p:spPr>
        <p:txBody>
          <a:bodyPr wrap="square" lIns="0" tIns="0" rIns="0" bIns="0" rtlCol="0" anchor="ctr"/>
          <a:lstStyle/>
          <a:p>
            <a:pPr marL="0" indent="0">
              <a:buNone/>
            </a:pPr>
            <a:r>
              <a:rPr lang="en-US" sz="1600" b="1" dirty="0">
                <a:solidFill>
                  <a:srgbClr val="1F6F78"/>
                </a:solidFill>
                <a:latin typeface="Cambria" pitchFamily="34" charset="0"/>
                <a:ea typeface="Cambria" pitchFamily="34" charset="-122"/>
                <a:cs typeface="Cambria" pitchFamily="34" charset="-120"/>
              </a:rPr>
              <a:t>The aim</a:t>
            </a:r>
            <a:endParaRPr lang="en-US" sz="1600" dirty="0"/>
          </a:p>
        </p:txBody>
      </p:sp>
      <p:sp>
        <p:nvSpPr>
          <p:cNvPr id="9" name="Text 7"/>
          <p:cNvSpPr txBox="1"/>
          <p:nvPr/>
        </p:nvSpPr>
        <p:spPr>
          <a:xfrm>
            <a:off x="3429000" y="2103120"/>
            <a:ext cx="2148840" cy="2286000"/>
          </a:xfrm>
          <a:prstGeom prst="rect">
            <a:avLst/>
          </a:prstGeom>
          <a:noFill/>
          <a:ln/>
        </p:spPr>
        <p:txBody>
          <a:bodyPr wrap="square" lIns="0" tIns="0" rIns="0" bIns="0" rtlCol="0" anchor="t"/>
          <a:lstStyle/>
          <a:p>
            <a:pPr marL="0" indent="0">
              <a:spcAft>
                <a:spcPts val="500"/>
              </a:spcAft>
              <a:buNone/>
            </a:pPr>
            <a:r>
              <a:rPr lang="en-US" sz="1250" dirty="0">
                <a:solidFill>
                  <a:srgbClr val="2B3A3D"/>
                </a:solidFill>
                <a:latin typeface="Calibri" pitchFamily="34" charset="0"/>
                <a:ea typeface="Calibri" pitchFamily="34" charset="-122"/>
                <a:cs typeface="Calibri" pitchFamily="34" charset="-120"/>
              </a:rPr>
              <a:t>Build and test an LLM pipeline that predicts a candidate's skills, extracts a job's required skills, and scores the match with evidence.</a:t>
            </a:r>
            <a:endParaRPr lang="en-US" sz="1250" dirty="0"/>
          </a:p>
        </p:txBody>
      </p:sp>
      <p:sp>
        <p:nvSpPr>
          <p:cNvPr id="10" name="Shape 8"/>
          <p:cNvSpPr/>
          <p:nvPr/>
        </p:nvSpPr>
        <p:spPr>
          <a:xfrm>
            <a:off x="5943600" y="1508760"/>
            <a:ext cx="2514600" cy="3017520"/>
          </a:xfrm>
          <a:prstGeom prst="roundRect">
            <a:avLst>
              <a:gd name="adj" fmla="val 2909"/>
            </a:avLst>
          </a:prstGeom>
          <a:solidFill>
            <a:srgbClr val="12343B"/>
          </a:solidFill>
          <a:ln w="9525">
            <a:solidFill>
              <a:srgbClr val="12343B"/>
            </a:solidFill>
            <a:prstDash val="solid"/>
          </a:ln>
        </p:spPr>
      </p:sp>
      <p:sp>
        <p:nvSpPr>
          <p:cNvPr id="11" name="Text 9"/>
          <p:cNvSpPr txBox="1"/>
          <p:nvPr/>
        </p:nvSpPr>
        <p:spPr>
          <a:xfrm>
            <a:off x="6126480" y="1645920"/>
            <a:ext cx="2148840" cy="36576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Research questions</a:t>
            </a:r>
            <a:endParaRPr lang="en-US" sz="1600" dirty="0"/>
          </a:p>
        </p:txBody>
      </p:sp>
      <p:sp>
        <p:nvSpPr>
          <p:cNvPr id="12" name="Text 10"/>
          <p:cNvSpPr txBox="1"/>
          <p:nvPr/>
        </p:nvSpPr>
        <p:spPr>
          <a:xfrm>
            <a:off x="6126480" y="2103120"/>
            <a:ext cx="2148840" cy="2286000"/>
          </a:xfrm>
          <a:prstGeom prst="rect">
            <a:avLst/>
          </a:prstGeom>
          <a:noFill/>
          <a:ln/>
        </p:spPr>
        <p:txBody>
          <a:bodyPr wrap="square" lIns="0" tIns="0" rIns="0" bIns="0" rtlCol="0" anchor="t"/>
          <a:lstStyle/>
          <a:p>
            <a:pPr marL="0" indent="0">
              <a:spcAft>
                <a:spcPts val="500"/>
              </a:spcAft>
              <a:buNone/>
            </a:pPr>
            <a:r>
              <a:rPr lang="en-US" sz="1250" dirty="0">
                <a:solidFill>
                  <a:srgbClr val="FFFFFF"/>
                </a:solidFill>
                <a:latin typeface="Calibri" pitchFamily="34" charset="0"/>
                <a:ea typeface="Calibri" pitchFamily="34" charset="-122"/>
                <a:cs typeface="Calibri" pitchFamily="34" charset="-120"/>
              </a:rPr>
              <a:t>RQ1: Can an LLM predict skills a CV implies but does not state?</a:t>
            </a:r>
            <a:endParaRPr lang="en-US" sz="1250" dirty="0"/>
          </a:p>
          <a:p>
            <a:pPr marL="0" indent="0">
              <a:spcAft>
                <a:spcPts val="500"/>
              </a:spcAft>
              <a:buNone/>
            </a:pPr>
            <a:r>
              <a:rPr lang="en-US" sz="1250" dirty="0">
                <a:solidFill>
                  <a:srgbClr val="FFFFFF"/>
                </a:solidFill>
                <a:latin typeface="Calibri" pitchFamily="34" charset="0"/>
                <a:ea typeface="Calibri" pitchFamily="34" charset="-122"/>
                <a:cs typeface="Calibri" pitchFamily="34" charset="-120"/>
              </a:rPr>
              <a:t>RQ2: Does skill-level matching rank candidates better than whole-document similarity?</a:t>
            </a:r>
            <a:endParaRPr lang="en-US" sz="1250" dirty="0"/>
          </a:p>
          <a:p>
            <a:pPr marL="0" indent="0">
              <a:spcAft>
                <a:spcPts val="500"/>
              </a:spcAft>
              <a:buNone/>
            </a:pPr>
            <a:r>
              <a:rPr lang="en-US" sz="1250" dirty="0">
                <a:solidFill>
                  <a:srgbClr val="FFFFFF"/>
                </a:solidFill>
                <a:latin typeface="Calibri" pitchFamily="34" charset="0"/>
                <a:ea typeface="Calibri" pitchFamily="34" charset="-122"/>
                <a:cs typeface="Calibri" pitchFamily="34" charset="-120"/>
              </a:rPr>
              <a:t>RQ3: Can the match be explained with evidence from the text?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7"/>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ctr"/>
          <a:lstStyle/>
          <a:p>
            <a:pPr marL="0" indent="0">
              <a:buNone/>
            </a:pPr>
            <a:r>
              <a:rPr lang="en-US" sz="2800" b="1" dirty="0">
                <a:solidFill>
                  <a:srgbClr val="12343B"/>
                </a:solidFill>
                <a:latin typeface="Cambria" pitchFamily="34" charset="0"/>
                <a:ea typeface="Cambria" pitchFamily="34" charset="-122"/>
                <a:cs typeface="Cambria" pitchFamily="34" charset="-120"/>
              </a:rPr>
              <a:t>What exists and what is missing</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051560"/>
          <a:ext cx="8046720" cy="237744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Work</a:t>
                      </a:r>
                      <a:endParaRPr lang="en-US" sz="110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12343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did</a:t>
                      </a:r>
                      <a:endParaRPr lang="en-US" sz="110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12343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12343B"/>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Jiechieu and Tsopze, 2021</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CNN predicts high-level skills from resumes, 98.79% recall, 91.34% precision</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Anonymous IT resumes only. No LLM. No job side</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Goyal et al., EACL 2023 (JobXMLC)</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Graph neural network predicts missing skills from job descriptions</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Job side only. Resumes not covered</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Clavie and Soulie, 2023</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Zero-shot LLM extracts ESCO skills from job posts</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Job posts only. No candidate matching</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Vaishampayan et al., NAACL Findings 2025</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GPT-4 rated 736 resumes against human raters</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Low agreement with humans. No skill-level evidence</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TalentCLEF 2025 and 2027</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Shared tasks: job title to skills, contextual matching, explainable ranking</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tc>
                  <a:txBody>
                    <a:bodyPr/>
                    <a:lstStyle/>
                    <a:p>
                      <a:pPr marL="0" indent="0">
                        <a:buNone/>
                      </a:pPr>
                      <a:r>
                        <a:rPr lang="en-US" sz="1050" dirty="0">
                          <a:solidFill>
                            <a:srgbClr val="2B3A3D"/>
                          </a:solidFill>
                          <a:latin typeface="Calibri" pitchFamily="34" charset="0"/>
                          <a:ea typeface="Calibri" pitchFamily="34" charset="-122"/>
                          <a:cs typeface="Calibri" pitchFamily="34" charset="-120"/>
                        </a:rPr>
                        <a:t>Benchmarks, not a full resume-to-job pipeline</a:t>
                      </a:r>
                      <a:endParaRPr lang="en-US" sz="1050" dirty="0">
                        <a:latin typeface="Calibri" charset="0"/>
                        <a:ea typeface="Calibri" charset="0"/>
                        <a:cs typeface="Calibri" charset="0"/>
                      </a:endParaRPr>
                    </a:p>
                  </a:txBody>
                  <a:tcPr anchor="ctr">
                    <a:lnL w="9525" cap="flat" cmpd="sng" algn="ctr">
                      <a:solidFill>
                        <a:srgbClr val="D5E0E1"/>
                      </a:solidFill>
                      <a:prstDash val="solid"/>
                      <a:round/>
                      <a:headEnd type="none" w="med" len="med"/>
                      <a:tailEnd type="none" w="med" len="med"/>
                    </a:lnL>
                    <a:lnR w="9525" cap="flat" cmpd="sng" algn="ctr">
                      <a:solidFill>
                        <a:srgbClr val="D5E0E1"/>
                      </a:solidFill>
                      <a:prstDash val="solid"/>
                      <a:round/>
                      <a:headEnd type="none" w="med" len="med"/>
                      <a:tailEnd type="none" w="med" len="med"/>
                    </a:lnR>
                    <a:lnT w="9525" cap="flat" cmpd="sng" algn="ctr">
                      <a:solidFill>
                        <a:srgbClr val="D5E0E1"/>
                      </a:solidFill>
                      <a:prstDash val="solid"/>
                      <a:round/>
                      <a:headEnd type="none" w="med" len="med"/>
                      <a:tailEnd type="none" w="med" len="med"/>
                    </a:lnT>
                    <a:lnB w="9525" cap="flat" cmpd="sng" algn="ctr">
                      <a:solidFill>
                        <a:srgbClr val="D5E0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Shape 1"/>
          <p:cNvSpPr/>
          <p:nvPr/>
        </p:nvSpPr>
        <p:spPr>
          <a:xfrm>
            <a:off x="548640" y="3657600"/>
            <a:ext cx="8046720" cy="914400"/>
          </a:xfrm>
          <a:prstGeom prst="roundRect">
            <a:avLst>
              <a:gd name="adj" fmla="val 8000"/>
            </a:avLst>
          </a:prstGeom>
          <a:solidFill>
            <a:srgbClr val="12343B"/>
          </a:solidFill>
          <a:ln w="9525">
            <a:solidFill>
              <a:srgbClr val="12343B"/>
            </a:solidFill>
            <a:prstDash val="solid"/>
          </a:ln>
        </p:spPr>
      </p:sp>
      <p:sp>
        <p:nvSpPr>
          <p:cNvPr id="5" name="Text 2"/>
          <p:cNvSpPr txBox="1"/>
          <p:nvPr/>
        </p:nvSpPr>
        <p:spPr>
          <a:xfrm>
            <a:off x="777240" y="3703320"/>
            <a:ext cx="7589520" cy="822960"/>
          </a:xfrm>
          <a:prstGeom prst="rect">
            <a:avLst/>
          </a:prstGeom>
          <a:noFill/>
          <a:ln/>
        </p:spPr>
        <p:txBody>
          <a:bodyPr wrap="square" lIns="0" tIns="0" rIns="0" bIns="0" rtlCol="0" anchor="ctr"/>
          <a:lstStyle/>
          <a:p>
            <a:pPr marL="0" indent="0">
              <a:buNone/>
            </a:pPr>
            <a:r>
              <a:rPr lang="en-US" sz="1500" b="1" dirty="0">
                <a:solidFill>
                  <a:srgbClr val="F2A93B"/>
                </a:solidFill>
                <a:latin typeface="Cambria" pitchFamily="34" charset="0"/>
                <a:ea typeface="Cambria" pitchFamily="34" charset="-122"/>
                <a:cs typeface="Cambria" pitchFamily="34" charset="-120"/>
              </a:rPr>
              <a:t>The gap: </a:t>
            </a:r>
            <a:r>
              <a:rPr lang="en-US" sz="1250" dirty="0">
                <a:solidFill>
                  <a:srgbClr val="FFFFFF"/>
                </a:solidFill>
                <a:latin typeface="Calibri" pitchFamily="34" charset="0"/>
                <a:ea typeface="Calibri" pitchFamily="34" charset="-122"/>
                <a:cs typeface="Calibri" pitchFamily="34" charset="-120"/>
              </a:rPr>
              <a:t>Across these sources, resume skill prediction, job skill extraction and explained matching sit in separate studies. This project joins them in one LLM pipeline and tests it with evidence and fairness checks.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7"/>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ctr"/>
          <a:lstStyle/>
          <a:p>
            <a:pPr marL="0" indent="0">
              <a:buNone/>
            </a:pPr>
            <a:r>
              <a:rPr lang="en-US" sz="2800" b="1" dirty="0">
                <a:solidFill>
                  <a:srgbClr val="12343B"/>
                </a:solidFill>
                <a:latin typeface="Cambria" pitchFamily="34" charset="0"/>
                <a:ea typeface="Cambria" pitchFamily="34" charset="-122"/>
                <a:cs typeface="Cambria" pitchFamily="34" charset="-120"/>
              </a:rPr>
              <a:t>Proposed approach</a:t>
            </a:r>
            <a:endParaRPr lang="en-US" sz="2800" dirty="0"/>
          </a:p>
        </p:txBody>
      </p:sp>
      <p:sp>
        <p:nvSpPr>
          <p:cNvPr id="3" name="Text 1"/>
          <p:cNvSpPr txBox="1"/>
          <p:nvPr/>
        </p:nvSpPr>
        <p:spPr>
          <a:xfrm>
            <a:off x="548640" y="914400"/>
            <a:ext cx="8046720" cy="320040"/>
          </a:xfrm>
          <a:prstGeom prst="rect">
            <a:avLst/>
          </a:prstGeom>
          <a:noFill/>
          <a:ln/>
        </p:spPr>
        <p:txBody>
          <a:bodyPr wrap="square" lIns="0" tIns="0" rIns="0" bIns="0" rtlCol="0" anchor="ctr"/>
          <a:lstStyle/>
          <a:p>
            <a:pPr marL="0" indent="0">
              <a:buNone/>
            </a:pPr>
            <a:r>
              <a:rPr lang="en-US" sz="1400" dirty="0">
                <a:solidFill>
                  <a:srgbClr val="1F6F78"/>
                </a:solidFill>
                <a:latin typeface="Calibri" pitchFamily="34" charset="0"/>
                <a:ea typeface="Calibri" pitchFamily="34" charset="-122"/>
                <a:cs typeface="Calibri" pitchFamily="34" charset="-120"/>
              </a:rPr>
              <a:t>One pipeline, three stages, tested against simple baselines.</a:t>
            </a:r>
            <a:endParaRPr lang="en-US" sz="1400" dirty="0"/>
          </a:p>
        </p:txBody>
      </p:sp>
      <p:sp>
        <p:nvSpPr>
          <p:cNvPr id="4" name="Shape 2"/>
          <p:cNvSpPr/>
          <p:nvPr/>
        </p:nvSpPr>
        <p:spPr>
          <a:xfrm>
            <a:off x="548640" y="1463040"/>
            <a:ext cx="2377440" cy="1417320"/>
          </a:xfrm>
          <a:prstGeom prst="roundRect">
            <a:avLst>
              <a:gd name="adj" fmla="val 5161"/>
            </a:avLst>
          </a:prstGeom>
          <a:solidFill>
            <a:srgbClr val="12343B"/>
          </a:solidFill>
          <a:ln w="9525">
            <a:solidFill>
              <a:srgbClr val="12343B"/>
            </a:solidFill>
            <a:prstDash val="solid"/>
          </a:ln>
        </p:spPr>
      </p:sp>
      <p:sp>
        <p:nvSpPr>
          <p:cNvPr id="5" name="Text 3"/>
          <p:cNvSpPr txBox="1"/>
          <p:nvPr/>
        </p:nvSpPr>
        <p:spPr>
          <a:xfrm>
            <a:off x="731520" y="1572768"/>
            <a:ext cx="2011680" cy="36576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1. Read</a:t>
            </a:r>
            <a:endParaRPr lang="en-US" sz="1600" dirty="0"/>
          </a:p>
        </p:txBody>
      </p:sp>
      <p:sp>
        <p:nvSpPr>
          <p:cNvPr id="6" name="Text 4"/>
          <p:cNvSpPr txBox="1"/>
          <p:nvPr/>
        </p:nvSpPr>
        <p:spPr>
          <a:xfrm>
            <a:off x="731520" y="1965960"/>
            <a:ext cx="201168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Clean the CV and the job post. Extract stated skills.</a:t>
            </a:r>
            <a:endParaRPr lang="en-US" sz="1250" dirty="0"/>
          </a:p>
        </p:txBody>
      </p:sp>
      <p:sp>
        <p:nvSpPr>
          <p:cNvPr id="7" name="Shape 5"/>
          <p:cNvSpPr/>
          <p:nvPr/>
        </p:nvSpPr>
        <p:spPr>
          <a:xfrm>
            <a:off x="2971800" y="2011680"/>
            <a:ext cx="274320" cy="274320"/>
          </a:xfrm>
          <a:prstGeom prst="rightArrow">
            <a:avLst/>
          </a:prstGeom>
          <a:solidFill>
            <a:srgbClr val="F2A93B"/>
          </a:solidFill>
          <a:ln w="12700">
            <a:solidFill>
              <a:srgbClr val="F2A93B"/>
            </a:solidFill>
            <a:prstDash val="solid"/>
          </a:ln>
        </p:spPr>
      </p:sp>
      <p:sp>
        <p:nvSpPr>
          <p:cNvPr id="8" name="Shape 6"/>
          <p:cNvSpPr/>
          <p:nvPr/>
        </p:nvSpPr>
        <p:spPr>
          <a:xfrm>
            <a:off x="3291840" y="1463040"/>
            <a:ext cx="2377440" cy="1417320"/>
          </a:xfrm>
          <a:prstGeom prst="roundRect">
            <a:avLst>
              <a:gd name="adj" fmla="val 5161"/>
            </a:avLst>
          </a:prstGeom>
          <a:solidFill>
            <a:srgbClr val="F2A93B"/>
          </a:solidFill>
          <a:ln w="9525">
            <a:solidFill>
              <a:srgbClr val="F2A93B"/>
            </a:solidFill>
            <a:prstDash val="solid"/>
          </a:ln>
        </p:spPr>
      </p:sp>
      <p:sp>
        <p:nvSpPr>
          <p:cNvPr id="9" name="Text 7"/>
          <p:cNvSpPr txBox="1"/>
          <p:nvPr/>
        </p:nvSpPr>
        <p:spPr>
          <a:xfrm>
            <a:off x="3474720" y="1572768"/>
            <a:ext cx="2011680" cy="365760"/>
          </a:xfrm>
          <a:prstGeom prst="rect">
            <a:avLst/>
          </a:prstGeom>
          <a:noFill/>
          <a:ln/>
        </p:spPr>
        <p:txBody>
          <a:bodyPr wrap="square" lIns="0" tIns="0" rIns="0" bIns="0" rtlCol="0" anchor="ctr"/>
          <a:lstStyle/>
          <a:p>
            <a:pPr marL="0" indent="0">
              <a:buNone/>
            </a:pPr>
            <a:r>
              <a:rPr lang="en-US" sz="1600" b="1" dirty="0">
                <a:solidFill>
                  <a:srgbClr val="12343B"/>
                </a:solidFill>
                <a:latin typeface="Cambria" pitchFamily="34" charset="0"/>
                <a:ea typeface="Cambria" pitchFamily="34" charset="-122"/>
                <a:cs typeface="Cambria" pitchFamily="34" charset="-120"/>
              </a:rPr>
              <a:t>2. Predict</a:t>
            </a:r>
            <a:endParaRPr lang="en-US" sz="1600" dirty="0"/>
          </a:p>
        </p:txBody>
      </p:sp>
      <p:sp>
        <p:nvSpPr>
          <p:cNvPr id="10" name="Text 8"/>
          <p:cNvSpPr txBox="1"/>
          <p:nvPr/>
        </p:nvSpPr>
        <p:spPr>
          <a:xfrm>
            <a:off x="3474720" y="1965960"/>
            <a:ext cx="2011680" cy="868680"/>
          </a:xfrm>
          <a:prstGeom prst="rect">
            <a:avLst/>
          </a:prstGeom>
          <a:noFill/>
          <a:ln/>
        </p:spPr>
        <p:txBody>
          <a:bodyPr wrap="square" lIns="0" tIns="0" rIns="0" bIns="0" rtlCol="0" anchor="t"/>
          <a:lstStyle/>
          <a:p>
            <a:pPr marL="0" indent="0">
              <a:buNone/>
            </a:pPr>
            <a:r>
              <a:rPr lang="en-US" sz="1250" dirty="0">
                <a:solidFill>
                  <a:srgbClr val="12343B"/>
                </a:solidFill>
                <a:latin typeface="Calibri" pitchFamily="34" charset="0"/>
                <a:ea typeface="Calibri" pitchFamily="34" charset="-122"/>
                <a:cs typeface="Calibri" pitchFamily="34" charset="-120"/>
              </a:rPr>
              <a:t>LLM infers implied skills from evidence. Map skills to ESCO.</a:t>
            </a:r>
            <a:endParaRPr lang="en-US" sz="1250" dirty="0"/>
          </a:p>
        </p:txBody>
      </p:sp>
      <p:sp>
        <p:nvSpPr>
          <p:cNvPr id="11" name="Shape 9"/>
          <p:cNvSpPr/>
          <p:nvPr/>
        </p:nvSpPr>
        <p:spPr>
          <a:xfrm>
            <a:off x="5715000" y="2011680"/>
            <a:ext cx="274320" cy="274320"/>
          </a:xfrm>
          <a:prstGeom prst="rightArrow">
            <a:avLst/>
          </a:prstGeom>
          <a:solidFill>
            <a:srgbClr val="F2A93B"/>
          </a:solidFill>
          <a:ln w="12700">
            <a:solidFill>
              <a:srgbClr val="F2A93B"/>
            </a:solidFill>
            <a:prstDash val="solid"/>
          </a:ln>
        </p:spPr>
      </p:sp>
      <p:sp>
        <p:nvSpPr>
          <p:cNvPr id="12" name="Shape 10"/>
          <p:cNvSpPr/>
          <p:nvPr/>
        </p:nvSpPr>
        <p:spPr>
          <a:xfrm>
            <a:off x="6035040" y="1463040"/>
            <a:ext cx="2377440" cy="1417320"/>
          </a:xfrm>
          <a:prstGeom prst="roundRect">
            <a:avLst>
              <a:gd name="adj" fmla="val 5161"/>
            </a:avLst>
          </a:prstGeom>
          <a:solidFill>
            <a:srgbClr val="12343B"/>
          </a:solidFill>
          <a:ln w="9525">
            <a:solidFill>
              <a:srgbClr val="12343B"/>
            </a:solidFill>
            <a:prstDash val="solid"/>
          </a:ln>
        </p:spPr>
      </p:sp>
      <p:sp>
        <p:nvSpPr>
          <p:cNvPr id="13" name="Text 11"/>
          <p:cNvSpPr txBox="1"/>
          <p:nvPr/>
        </p:nvSpPr>
        <p:spPr>
          <a:xfrm>
            <a:off x="6217920" y="1572768"/>
            <a:ext cx="2011680" cy="36576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3. Match</a:t>
            </a:r>
            <a:endParaRPr lang="en-US" sz="1600" dirty="0"/>
          </a:p>
        </p:txBody>
      </p:sp>
      <p:sp>
        <p:nvSpPr>
          <p:cNvPr id="14" name="Text 12"/>
          <p:cNvSpPr txBox="1"/>
          <p:nvPr/>
        </p:nvSpPr>
        <p:spPr>
          <a:xfrm>
            <a:off x="6217920" y="1965960"/>
            <a:ext cx="201168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Compare skill sets. Output score, matched skills, missing skills.</a:t>
            </a:r>
            <a:endParaRPr lang="en-US" sz="1250" dirty="0"/>
          </a:p>
        </p:txBody>
      </p:sp>
      <p:sp>
        <p:nvSpPr>
          <p:cNvPr id="15" name="Shape 13"/>
          <p:cNvSpPr/>
          <p:nvPr/>
        </p:nvSpPr>
        <p:spPr>
          <a:xfrm>
            <a:off x="548640" y="3108960"/>
            <a:ext cx="2560320" cy="1600200"/>
          </a:xfrm>
          <a:prstGeom prst="roundRect">
            <a:avLst>
              <a:gd name="adj" fmla="val 4571"/>
            </a:avLst>
          </a:prstGeom>
          <a:solidFill>
            <a:srgbClr val="FFFFFF"/>
          </a:solidFill>
          <a:ln w="9525">
            <a:solidFill>
              <a:srgbClr val="D5E0E1"/>
            </a:solidFill>
            <a:prstDash val="solid"/>
          </a:ln>
        </p:spPr>
      </p:sp>
      <p:sp>
        <p:nvSpPr>
          <p:cNvPr id="16" name="Text 14"/>
          <p:cNvSpPr txBox="1"/>
          <p:nvPr/>
        </p:nvSpPr>
        <p:spPr>
          <a:xfrm>
            <a:off x="685800" y="3200400"/>
            <a:ext cx="2286000" cy="274320"/>
          </a:xfrm>
          <a:prstGeom prst="rect">
            <a:avLst/>
          </a:prstGeom>
          <a:noFill/>
          <a:ln/>
        </p:spPr>
        <p:txBody>
          <a:bodyPr wrap="square" lIns="0" tIns="0" rIns="0" bIns="0" rtlCol="0" anchor="ctr"/>
          <a:lstStyle/>
          <a:p>
            <a:pPr marL="0" indent="0">
              <a:buNone/>
            </a:pPr>
            <a:r>
              <a:rPr lang="en-US" sz="1400" b="1" dirty="0">
                <a:solidFill>
                  <a:srgbClr val="1F6F78"/>
                </a:solidFill>
                <a:latin typeface="Cambria" pitchFamily="34" charset="0"/>
                <a:ea typeface="Cambria" pitchFamily="34" charset="-122"/>
                <a:cs typeface="Cambria" pitchFamily="34" charset="-120"/>
              </a:rPr>
              <a:t>Data</a:t>
            </a:r>
            <a:endParaRPr lang="en-US" sz="1400" dirty="0"/>
          </a:p>
        </p:txBody>
      </p:sp>
      <p:sp>
        <p:nvSpPr>
          <p:cNvPr id="17" name="Text 15"/>
          <p:cNvSpPr txBox="1"/>
          <p:nvPr/>
        </p:nvSpPr>
        <p:spPr>
          <a:xfrm>
            <a:off x="685800" y="3520440"/>
            <a:ext cx="2286000" cy="1143000"/>
          </a:xfrm>
          <a:prstGeom prst="rect">
            <a:avLst/>
          </a:prstGeom>
          <a:noFill/>
          <a:ln/>
        </p:spPr>
        <p:txBody>
          <a:bodyPr wrap="square" lIns="0" tIns="0" rIns="0" bIns="0" rtlCol="0" anchor="t"/>
          <a:lstStyle/>
          <a:p>
            <a:pPr marL="0" indent="0">
              <a:buNone/>
            </a:pPr>
            <a:r>
              <a:rPr lang="en-US" sz="1150" dirty="0">
                <a:solidFill>
                  <a:srgbClr val="2B3A3D"/>
                </a:solidFill>
                <a:latin typeface="Calibri" pitchFamily="34" charset="0"/>
                <a:ea typeface="Calibri" pitchFamily="34" charset="-122"/>
                <a:cs typeface="Calibri" pitchFamily="34" charset="-120"/>
              </a:rPr>
              <a:t>Public resume and job datasets, plus the TalentCLEF sample data. Check licence and privacy first.</a:t>
            </a:r>
            <a:endParaRPr lang="en-US" sz="1150" dirty="0"/>
          </a:p>
        </p:txBody>
      </p:sp>
      <p:sp>
        <p:nvSpPr>
          <p:cNvPr id="18" name="Shape 16"/>
          <p:cNvSpPr/>
          <p:nvPr/>
        </p:nvSpPr>
        <p:spPr>
          <a:xfrm>
            <a:off x="3291840" y="3108960"/>
            <a:ext cx="2560320" cy="1600200"/>
          </a:xfrm>
          <a:prstGeom prst="roundRect">
            <a:avLst>
              <a:gd name="adj" fmla="val 4571"/>
            </a:avLst>
          </a:prstGeom>
          <a:solidFill>
            <a:srgbClr val="FFFFFF"/>
          </a:solidFill>
          <a:ln w="9525">
            <a:solidFill>
              <a:srgbClr val="D5E0E1"/>
            </a:solidFill>
            <a:prstDash val="solid"/>
          </a:ln>
        </p:spPr>
      </p:sp>
      <p:sp>
        <p:nvSpPr>
          <p:cNvPr id="19" name="Text 17"/>
          <p:cNvSpPr txBox="1"/>
          <p:nvPr/>
        </p:nvSpPr>
        <p:spPr>
          <a:xfrm>
            <a:off x="3429000" y="3200400"/>
            <a:ext cx="2286000" cy="274320"/>
          </a:xfrm>
          <a:prstGeom prst="rect">
            <a:avLst/>
          </a:prstGeom>
          <a:noFill/>
          <a:ln/>
        </p:spPr>
        <p:txBody>
          <a:bodyPr wrap="square" lIns="0" tIns="0" rIns="0" bIns="0" rtlCol="0" anchor="ctr"/>
          <a:lstStyle/>
          <a:p>
            <a:pPr marL="0" indent="0">
              <a:buNone/>
            </a:pPr>
            <a:r>
              <a:rPr lang="en-US" sz="1400" b="1" dirty="0">
                <a:solidFill>
                  <a:srgbClr val="1F6F78"/>
                </a:solidFill>
                <a:latin typeface="Cambria" pitchFamily="34" charset="0"/>
                <a:ea typeface="Cambria" pitchFamily="34" charset="-122"/>
                <a:cs typeface="Cambria" pitchFamily="34" charset="-120"/>
              </a:rPr>
              <a:t>Baselines</a:t>
            </a:r>
            <a:endParaRPr lang="en-US" sz="1400" dirty="0"/>
          </a:p>
        </p:txBody>
      </p:sp>
      <p:sp>
        <p:nvSpPr>
          <p:cNvPr id="20" name="Text 18"/>
          <p:cNvSpPr txBox="1"/>
          <p:nvPr/>
        </p:nvSpPr>
        <p:spPr>
          <a:xfrm>
            <a:off x="3429000" y="3520440"/>
            <a:ext cx="2286000" cy="1143000"/>
          </a:xfrm>
          <a:prstGeom prst="rect">
            <a:avLst/>
          </a:prstGeom>
          <a:noFill/>
          <a:ln/>
        </p:spPr>
        <p:txBody>
          <a:bodyPr wrap="square" lIns="0" tIns="0" rIns="0" bIns="0" rtlCol="0" anchor="t"/>
          <a:lstStyle/>
          <a:p>
            <a:pPr marL="0" indent="0">
              <a:buNone/>
            </a:pPr>
            <a:r>
              <a:rPr lang="en-US" sz="1150" dirty="0">
                <a:solidFill>
                  <a:srgbClr val="2B3A3D"/>
                </a:solidFill>
                <a:latin typeface="Calibri" pitchFamily="34" charset="0"/>
                <a:ea typeface="Calibri" pitchFamily="34" charset="-122"/>
                <a:cs typeface="Calibri" pitchFamily="34" charset="-120"/>
              </a:rPr>
              <a:t>TF-IDF and sentence embeddings against an LLM-based method.</a:t>
            </a:r>
            <a:endParaRPr lang="en-US" sz="1150" dirty="0"/>
          </a:p>
        </p:txBody>
      </p:sp>
      <p:sp>
        <p:nvSpPr>
          <p:cNvPr id="21" name="Shape 19"/>
          <p:cNvSpPr/>
          <p:nvPr/>
        </p:nvSpPr>
        <p:spPr>
          <a:xfrm>
            <a:off x="6035040" y="3108960"/>
            <a:ext cx="2560320" cy="1600200"/>
          </a:xfrm>
          <a:prstGeom prst="roundRect">
            <a:avLst>
              <a:gd name="adj" fmla="val 4571"/>
            </a:avLst>
          </a:prstGeom>
          <a:solidFill>
            <a:srgbClr val="FFFFFF"/>
          </a:solidFill>
          <a:ln w="9525">
            <a:solidFill>
              <a:srgbClr val="D5E0E1"/>
            </a:solidFill>
            <a:prstDash val="solid"/>
          </a:ln>
        </p:spPr>
      </p:sp>
      <p:sp>
        <p:nvSpPr>
          <p:cNvPr id="22" name="Text 20"/>
          <p:cNvSpPr txBox="1"/>
          <p:nvPr/>
        </p:nvSpPr>
        <p:spPr>
          <a:xfrm>
            <a:off x="6172200" y="3200400"/>
            <a:ext cx="2286000" cy="274320"/>
          </a:xfrm>
          <a:prstGeom prst="rect">
            <a:avLst/>
          </a:prstGeom>
          <a:noFill/>
          <a:ln/>
        </p:spPr>
        <p:txBody>
          <a:bodyPr wrap="square" lIns="0" tIns="0" rIns="0" bIns="0" rtlCol="0" anchor="ctr"/>
          <a:lstStyle/>
          <a:p>
            <a:pPr marL="0" indent="0">
              <a:buNone/>
            </a:pPr>
            <a:r>
              <a:rPr lang="en-US" sz="1400" b="1" dirty="0">
                <a:solidFill>
                  <a:srgbClr val="1F6F78"/>
                </a:solidFill>
                <a:latin typeface="Cambria" pitchFamily="34" charset="0"/>
                <a:ea typeface="Cambria" pitchFamily="34" charset="-122"/>
                <a:cs typeface="Cambria" pitchFamily="34" charset="-120"/>
              </a:rPr>
              <a:t>Evaluation</a:t>
            </a:r>
            <a:endParaRPr lang="en-US" sz="1400" dirty="0"/>
          </a:p>
        </p:txBody>
      </p:sp>
      <p:sp>
        <p:nvSpPr>
          <p:cNvPr id="23" name="Text 21"/>
          <p:cNvSpPr txBox="1"/>
          <p:nvPr/>
        </p:nvSpPr>
        <p:spPr>
          <a:xfrm>
            <a:off x="6172200" y="3520440"/>
            <a:ext cx="2286000" cy="1143000"/>
          </a:xfrm>
          <a:prstGeom prst="rect">
            <a:avLst/>
          </a:prstGeom>
          <a:noFill/>
          <a:ln/>
        </p:spPr>
        <p:txBody>
          <a:bodyPr wrap="square" lIns="0" tIns="0" rIns="0" bIns="0" rtlCol="0" anchor="t"/>
          <a:lstStyle/>
          <a:p>
            <a:pPr marL="0" indent="0">
              <a:buNone/>
            </a:pPr>
            <a:r>
              <a:rPr lang="en-US" sz="1150" dirty="0">
                <a:solidFill>
                  <a:srgbClr val="2B3A3D"/>
                </a:solidFill>
                <a:latin typeface="Calibri" pitchFamily="34" charset="0"/>
                <a:ea typeface="Calibri" pitchFamily="34" charset="-122"/>
                <a:cs typeface="Calibri" pitchFamily="34" charset="-120"/>
              </a:rPr>
              <a:t>Precision, recall, F1 for skills. MAP and MRR for ranking. Check results across demographic groups.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7"/>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ctr"/>
          <a:lstStyle/>
          <a:p>
            <a:pPr marL="0" indent="0">
              <a:buNone/>
            </a:pPr>
            <a:r>
              <a:rPr lang="en-US" sz="2800" b="1" dirty="0">
                <a:solidFill>
                  <a:srgbClr val="12343B"/>
                </a:solidFill>
                <a:latin typeface="Cambria" pitchFamily="34" charset="0"/>
                <a:ea typeface="Cambria" pitchFamily="34" charset="-122"/>
                <a:cs typeface="Cambria" pitchFamily="34" charset="-120"/>
              </a:rPr>
              <a:t>Logistics, expectations and plan</a:t>
            </a:r>
            <a:endParaRPr lang="en-US" sz="2800" dirty="0"/>
          </a:p>
        </p:txBody>
      </p:sp>
      <p:sp>
        <p:nvSpPr>
          <p:cNvPr id="3" name="Shape 1"/>
          <p:cNvSpPr/>
          <p:nvPr/>
        </p:nvSpPr>
        <p:spPr>
          <a:xfrm>
            <a:off x="548640" y="1143000"/>
            <a:ext cx="2560320" cy="3520440"/>
          </a:xfrm>
          <a:prstGeom prst="roundRect">
            <a:avLst>
              <a:gd name="adj" fmla="val 2857"/>
            </a:avLst>
          </a:prstGeom>
          <a:solidFill>
            <a:srgbClr val="FFFFFF"/>
          </a:solidFill>
          <a:ln w="9525">
            <a:solidFill>
              <a:srgbClr val="D5E0E1"/>
            </a:solidFill>
            <a:prstDash val="solid"/>
          </a:ln>
        </p:spPr>
      </p:sp>
      <p:sp>
        <p:nvSpPr>
          <p:cNvPr id="4" name="Text 2"/>
          <p:cNvSpPr txBox="1"/>
          <p:nvPr/>
        </p:nvSpPr>
        <p:spPr>
          <a:xfrm>
            <a:off x="731520" y="1280160"/>
            <a:ext cx="2194560" cy="320040"/>
          </a:xfrm>
          <a:prstGeom prst="rect">
            <a:avLst/>
          </a:prstGeom>
          <a:noFill/>
          <a:ln/>
        </p:spPr>
        <p:txBody>
          <a:bodyPr wrap="square" lIns="0" tIns="0" rIns="0" bIns="0" rtlCol="0" anchor="ctr"/>
          <a:lstStyle/>
          <a:p>
            <a:pPr marL="0" indent="0">
              <a:buNone/>
            </a:pPr>
            <a:r>
              <a:rPr lang="en-US" sz="1600" b="1" dirty="0">
                <a:solidFill>
                  <a:srgbClr val="1F6F78"/>
                </a:solidFill>
                <a:latin typeface="Cambria" pitchFamily="34" charset="0"/>
                <a:ea typeface="Cambria" pitchFamily="34" charset="-122"/>
                <a:cs typeface="Cambria" pitchFamily="34" charset="-120"/>
              </a:rPr>
              <a:t>Plan</a:t>
            </a:r>
            <a:endParaRPr lang="en-US" sz="1600" dirty="0"/>
          </a:p>
        </p:txBody>
      </p:sp>
      <p:sp>
        <p:nvSpPr>
          <p:cNvPr id="5" name="Text 3"/>
          <p:cNvSpPr txBox="1"/>
          <p:nvPr/>
        </p:nvSpPr>
        <p:spPr>
          <a:xfrm>
            <a:off x="731520" y="1737360"/>
            <a:ext cx="2194560"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By week 4: Initial Project Overview, agreed with Dr Ullah first</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Oct to early Nov: literature review and draft report</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2 to 6 Nov: draft to Dr Gkatzia, interim meeting</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Nov to Feb: data, baselines, LLM experiments</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Mar to Apr: evaluation, write-up, poster</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20 Apr 2027, 3pm: final submission</a:t>
            </a:r>
            <a:endParaRPr lang="en-US" sz="1150" dirty="0"/>
          </a:p>
        </p:txBody>
      </p:sp>
      <p:sp>
        <p:nvSpPr>
          <p:cNvPr id="6" name="Shape 4"/>
          <p:cNvSpPr/>
          <p:nvPr/>
        </p:nvSpPr>
        <p:spPr>
          <a:xfrm>
            <a:off x="3291840" y="1143000"/>
            <a:ext cx="2560320" cy="3520440"/>
          </a:xfrm>
          <a:prstGeom prst="roundRect">
            <a:avLst>
              <a:gd name="adj" fmla="val 2857"/>
            </a:avLst>
          </a:prstGeom>
          <a:solidFill>
            <a:srgbClr val="FFFFFF"/>
          </a:solidFill>
          <a:ln w="9525">
            <a:solidFill>
              <a:srgbClr val="D5E0E1"/>
            </a:solidFill>
            <a:prstDash val="solid"/>
          </a:ln>
        </p:spPr>
      </p:sp>
      <p:sp>
        <p:nvSpPr>
          <p:cNvPr id="7" name="Text 5"/>
          <p:cNvSpPr txBox="1"/>
          <p:nvPr/>
        </p:nvSpPr>
        <p:spPr>
          <a:xfrm>
            <a:off x="3474720" y="1280160"/>
            <a:ext cx="2194560" cy="320040"/>
          </a:xfrm>
          <a:prstGeom prst="rect">
            <a:avLst/>
          </a:prstGeom>
          <a:noFill/>
          <a:ln/>
        </p:spPr>
        <p:txBody>
          <a:bodyPr wrap="square" lIns="0" tIns="0" rIns="0" bIns="0" rtlCol="0" anchor="ctr"/>
          <a:lstStyle/>
          <a:p>
            <a:pPr marL="0" indent="0">
              <a:buNone/>
            </a:pPr>
            <a:r>
              <a:rPr lang="en-US" sz="1600" b="1" dirty="0">
                <a:solidFill>
                  <a:srgbClr val="1F6F78"/>
                </a:solidFill>
                <a:latin typeface="Cambria" pitchFamily="34" charset="0"/>
                <a:ea typeface="Cambria" pitchFamily="34" charset="-122"/>
                <a:cs typeface="Cambria" pitchFamily="34" charset="-120"/>
              </a:rPr>
              <a:t>Logistics</a:t>
            </a:r>
            <a:endParaRPr lang="en-US" sz="1600" dirty="0"/>
          </a:p>
        </p:txBody>
      </p:sp>
      <p:sp>
        <p:nvSpPr>
          <p:cNvPr id="8" name="Text 6"/>
          <p:cNvSpPr txBox="1"/>
          <p:nvPr/>
        </p:nvSpPr>
        <p:spPr>
          <a:xfrm>
            <a:off x="3474720" y="1737360"/>
            <a:ext cx="2194560"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I arrange regular meetings with Dr Ullah</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Python, Jupyter, GitHub, open datasets</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Local or open-weight models to protect data</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Ethics check before using any CV data</a:t>
            </a:r>
            <a:endParaRPr lang="en-US" sz="1150" dirty="0"/>
          </a:p>
          <a:p>
            <a:pPr marL="342900" indent="-342900">
              <a:spcAft>
                <a:spcPts val="600"/>
              </a:spcAft>
              <a:buSzPct val="100000"/>
              <a:buChar char="•"/>
            </a:pPr>
            <a:r>
              <a:rPr lang="en-US" sz="1150" dirty="0">
                <a:solidFill>
                  <a:srgbClr val="2B3A3D"/>
                </a:solidFill>
                <a:latin typeface="Calibri" pitchFamily="34" charset="0"/>
                <a:ea typeface="Calibri" pitchFamily="34" charset="-122"/>
                <a:cs typeface="Calibri" pitchFamily="34" charset="-120"/>
              </a:rPr>
              <a:t>TalentCLEF sample data for development only. Its test set opens 20 Apr 2027, the submission day</a:t>
            </a:r>
            <a:endParaRPr lang="en-US" sz="1150" dirty="0"/>
          </a:p>
        </p:txBody>
      </p:sp>
      <p:sp>
        <p:nvSpPr>
          <p:cNvPr id="9" name="Shape 7"/>
          <p:cNvSpPr/>
          <p:nvPr/>
        </p:nvSpPr>
        <p:spPr>
          <a:xfrm>
            <a:off x="6035040" y="1143000"/>
            <a:ext cx="2560320" cy="3520440"/>
          </a:xfrm>
          <a:prstGeom prst="roundRect">
            <a:avLst>
              <a:gd name="adj" fmla="val 2857"/>
            </a:avLst>
          </a:prstGeom>
          <a:solidFill>
            <a:srgbClr val="12343B"/>
          </a:solidFill>
          <a:ln w="9525">
            <a:solidFill>
              <a:srgbClr val="12343B"/>
            </a:solidFill>
            <a:prstDash val="solid"/>
          </a:ln>
        </p:spPr>
      </p:sp>
      <p:sp>
        <p:nvSpPr>
          <p:cNvPr id="10" name="Text 8"/>
          <p:cNvSpPr txBox="1"/>
          <p:nvPr/>
        </p:nvSpPr>
        <p:spPr>
          <a:xfrm>
            <a:off x="6217920" y="1280160"/>
            <a:ext cx="2194560" cy="32004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Expectations</a:t>
            </a:r>
            <a:endParaRPr lang="en-US" sz="1600" dirty="0"/>
          </a:p>
        </p:txBody>
      </p:sp>
      <p:sp>
        <p:nvSpPr>
          <p:cNvPr id="11" name="Text 9"/>
          <p:cNvSpPr txBox="1"/>
          <p:nvPr/>
        </p:nvSpPr>
        <p:spPr>
          <a:xfrm>
            <a:off x="6217920" y="1737360"/>
            <a:ext cx="2194560"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Working pipeline with a clear baseline comparison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Results backed by the right metrics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Honest limits and bias discussion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Dissertation that names the gap and answers RQ1 to RQ3</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Interim report included as an appendix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949</TotalTime>
  <Words>618</Words>
  <Application>Microsoft Macintosh PowerPoint</Application>
  <PresentationFormat>On-screen Show (16:9)</PresentationFormat>
  <Paragraphs>83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Sifat.siddiki@northsouth.edu</cp:lastModifiedBy>
  <cp:revision>2</cp:revision>
  <dcterms:created xsi:type="dcterms:W3CDTF">2026-09-30T20:42:14Z</dcterms:created>
  <dcterms:modified xsi:type="dcterms:W3CDTF">2026-10-01T12:32:13Z</dcterms:modified>
</cp:coreProperties>
</file>