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607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847255"/>
            <a:ext cx="10883392" cy="108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800" b="0" i="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Skill-Level Inference Improve Resume-to-Job Matching?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3137495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Evidence-Grounded Evaluation of Large Language Models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3696295"/>
            <a:ext cx="10883392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Project Overview, Honours Project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Name: Al Sifat Siddiki, ID: 40735842</a:t>
            </a:r>
            <a:endParaRPr lang="en-US" sz="1500" dirty="0"/>
          </a:p>
          <a:p>
            <a:r>
              <a:rPr lang="en-BD" sz="1600" dirty="0"/>
              <a:t>BSc (Hons) </a:t>
            </a:r>
            <a:r>
              <a:rPr lang="en-US" sz="15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Science (AI), Edinburgh Napier University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782145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Supervisor</a:t>
            </a:r>
            <a:r>
              <a:rPr lang="en-US" sz="14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Dr Md Zia Ullah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marker</a:t>
            </a:r>
            <a:r>
              <a:rPr lang="en-US" sz="14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Dr Dimitra Gkatzia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88430"/>
            <a:ext cx="10566400" cy="1040110"/>
          </a:xfrm>
          <a:prstGeom prst="roundRect">
            <a:avLst>
              <a:gd name="adj" fmla="val 9768"/>
            </a:avLst>
          </a:prstGeom>
          <a:solidFill>
            <a:srgbClr val="E8F0F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question: does evidence-supported LLM skill inference improve resume-to-job matching beyond document-level semantic matching and explicit skill matching?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2800" y="2757140"/>
            <a:ext cx="5194300" cy="1115020"/>
          </a:xfrm>
          <a:prstGeom prst="roundRect">
            <a:avLst>
              <a:gd name="adj" fmla="val 9112"/>
            </a:avLst>
          </a:prstGeom>
          <a:solidFill>
            <a:srgbClr val="F1F3F4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96034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7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RQ1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1400" y="3188940"/>
            <a:ext cx="487921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accurately does an LLM infer skills a resume supports but does not state?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4900" y="2757140"/>
            <a:ext cx="5194300" cy="1115020"/>
          </a:xfrm>
          <a:prstGeom prst="roundRect">
            <a:avLst>
              <a:gd name="adj" fmla="val 9112"/>
            </a:avLst>
          </a:prstGeom>
          <a:solidFill>
            <a:srgbClr val="F1F3F4"/>
          </a:solidFill>
          <a:ln/>
        </p:spPr>
      </p:sp>
      <p:sp>
        <p:nvSpPr>
          <p:cNvPr id="8" name="Text 6"/>
          <p:cNvSpPr/>
          <p:nvPr/>
        </p:nvSpPr>
        <p:spPr>
          <a:xfrm>
            <a:off x="6413500" y="296034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7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RQ2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13500" y="3188940"/>
            <a:ext cx="487921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adding inferred skills improve candidate ranking compared with both baselines?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4049961"/>
            <a:ext cx="5194300" cy="1115020"/>
          </a:xfrm>
          <a:prstGeom prst="roundRect">
            <a:avLst>
              <a:gd name="adj" fmla="val 9112"/>
            </a:avLst>
          </a:prstGeom>
          <a:solidFill>
            <a:srgbClr val="F1F3F4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" y="4253161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7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RQ3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1400" y="4481761"/>
            <a:ext cx="487921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reliably does the quoted evidence support each inferred skill?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4900" y="4049961"/>
            <a:ext cx="5194300" cy="1115020"/>
          </a:xfrm>
          <a:prstGeom prst="roundRect">
            <a:avLst>
              <a:gd name="adj" fmla="val 9112"/>
            </a:avLst>
          </a:prstGeom>
          <a:solidFill>
            <a:srgbClr val="F1F3F4"/>
          </a:solidFill>
          <a:ln/>
        </p:spPr>
      </p:sp>
      <p:sp>
        <p:nvSpPr>
          <p:cNvPr id="14" name="Text 12"/>
          <p:cNvSpPr/>
          <p:nvPr/>
        </p:nvSpPr>
        <p:spPr>
          <a:xfrm>
            <a:off x="6413500" y="4253161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7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RQ4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3500" y="4481761"/>
            <a:ext cx="487921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kinds of errors does the LLM make when it infers skills?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Closest prior work: implicit skills [5], [6]. Skill matching [7] to [9]. LLM ranking and bias [2], [3], [10].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5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0" i="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setups, one experiment</a:t>
            </a:r>
            <a:endParaRPr lang="en-US" sz="3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946642"/>
              </p:ext>
            </p:extLst>
          </p:nvPr>
        </p:nvGraphicFramePr>
        <p:xfrm>
          <a:off x="825500" y="1494433"/>
          <a:ext cx="10553700" cy="2899917"/>
        </p:xfrm>
        <a:graphic>
          <a:graphicData uri="http://schemas.openxmlformats.org/drawingml/2006/table">
            <a:tbl>
              <a:tblPr/>
              <a:tblGrid>
                <a:gridCol w="2110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0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0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0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3983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b="1" dirty="0">
                          <a:solidFill>
                            <a:schemeClr val="accent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Setup</a:t>
                      </a:r>
                      <a:endParaRPr lang="en-US" sz="1369" dirty="0">
                        <a:solidFill>
                          <a:schemeClr val="accent1"/>
                        </a:solidFill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b="1" dirty="0">
                          <a:solidFill>
                            <a:schemeClr val="accent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Representation</a:t>
                      </a:r>
                      <a:endParaRPr lang="en-US" sz="1369" dirty="0">
                        <a:solidFill>
                          <a:schemeClr val="accent1"/>
                        </a:solidFill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b="1" dirty="0">
                          <a:solidFill>
                            <a:schemeClr val="accent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 skills</a:t>
                      </a:r>
                      <a:endParaRPr lang="en-US" sz="1369" dirty="0">
                        <a:solidFill>
                          <a:schemeClr val="accent1"/>
                        </a:solidFill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b="1" dirty="0">
                          <a:solidFill>
                            <a:schemeClr val="accent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Inferred skills</a:t>
                      </a:r>
                      <a:endParaRPr lang="en-US" sz="1369" dirty="0">
                        <a:solidFill>
                          <a:schemeClr val="accent1"/>
                        </a:solidFill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b="1" dirty="0">
                          <a:solidFill>
                            <a:schemeClr val="accent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Evidence check</a:t>
                      </a:r>
                      <a:endParaRPr lang="en-US" sz="1369" dirty="0">
                        <a:solidFill>
                          <a:schemeClr val="accent1"/>
                        </a:solidFill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317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B1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Full-document similarity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83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B2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 skills only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Yes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317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B3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 plus LLM-inferred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Yes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Yes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317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B4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 plus inferred, validated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Yes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Yes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Yes</a:t>
                      </a:r>
                      <a:endParaRPr lang="en-US" sz="1369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2800" y="4622949"/>
            <a:ext cx="3403600" cy="1219051"/>
          </a:xfrm>
          <a:prstGeom prst="roundRect">
            <a:avLst>
              <a:gd name="adj" fmla="val 8334"/>
            </a:avLst>
          </a:prstGeom>
          <a:solidFill>
            <a:srgbClr val="F1F3F4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4800749"/>
            <a:ext cx="30871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7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and labels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16000" y="5014069"/>
            <a:ext cx="308711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data, human relevance labels, splits by job family to avoid leakage.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94200" y="4622949"/>
            <a:ext cx="3403600" cy="1219051"/>
          </a:xfrm>
          <a:prstGeom prst="roundRect">
            <a:avLst>
              <a:gd name="adj" fmla="val 8334"/>
            </a:avLst>
          </a:prstGeom>
          <a:solidFill>
            <a:srgbClr val="F1F3F4"/>
          </a:solidFill>
          <a:ln/>
        </p:spPr>
      </p:sp>
      <p:sp>
        <p:nvSpPr>
          <p:cNvPr id="8" name="Text 5"/>
          <p:cNvSpPr/>
          <p:nvPr/>
        </p:nvSpPr>
        <p:spPr>
          <a:xfrm>
            <a:off x="4597400" y="4800749"/>
            <a:ext cx="3087116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396" b="1" dirty="0">
                <a:solidFill>
                  <a:srgbClr val="1A7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Scoring</a:t>
            </a:r>
            <a:endParaRPr lang="en-US" sz="1396" dirty="0"/>
          </a:p>
        </p:txBody>
      </p:sp>
      <p:sp>
        <p:nvSpPr>
          <p:cNvPr id="9" name="Text 6"/>
          <p:cNvSpPr/>
          <p:nvPr/>
        </p:nvSpPr>
        <p:spPr>
          <a:xfrm>
            <a:off x="4597400" y="5009604"/>
            <a:ext cx="3087116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276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MAP, MRR, nDCG@10 and Recall@10. Paired Wilcoxon test with bootstrap 95% intervals.</a:t>
            </a:r>
            <a:endParaRPr lang="en-US" sz="1276" dirty="0"/>
          </a:p>
        </p:txBody>
      </p:sp>
      <p:sp>
        <p:nvSpPr>
          <p:cNvPr id="10" name="Shape 7"/>
          <p:cNvSpPr/>
          <p:nvPr/>
        </p:nvSpPr>
        <p:spPr>
          <a:xfrm>
            <a:off x="7975600" y="4622949"/>
            <a:ext cx="3403600" cy="1219051"/>
          </a:xfrm>
          <a:prstGeom prst="roundRect">
            <a:avLst>
              <a:gd name="adj" fmla="val 8334"/>
            </a:avLst>
          </a:prstGeom>
          <a:solidFill>
            <a:srgbClr val="F1F3F4"/>
          </a:solidFill>
          <a:ln/>
        </p:spPr>
      </p:sp>
      <p:sp>
        <p:nvSpPr>
          <p:cNvPr id="11" name="Text 8"/>
          <p:cNvSpPr/>
          <p:nvPr/>
        </p:nvSpPr>
        <p:spPr>
          <a:xfrm>
            <a:off x="8178800" y="4800749"/>
            <a:ext cx="3087116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396" b="1" dirty="0">
                <a:solidFill>
                  <a:srgbClr val="1A7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labels</a:t>
            </a:r>
            <a:endParaRPr lang="en-US" sz="1396" dirty="0"/>
          </a:p>
        </p:txBody>
      </p:sp>
      <p:sp>
        <p:nvSpPr>
          <p:cNvPr id="12" name="Text 9"/>
          <p:cNvSpPr/>
          <p:nvPr/>
        </p:nvSpPr>
        <p:spPr>
          <a:xfrm>
            <a:off x="8178800" y="5009604"/>
            <a:ext cx="3087116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276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Supported, unsupported or ambiguous. Second annotator on a subset, Cohen's kappa.</a:t>
            </a:r>
            <a:endParaRPr lang="en-US" sz="1276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Skills map to ESCO [1]. Negation gets its own test, following TalentCLEF 2027 [4].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and milestones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08427"/>
              </p:ext>
            </p:extLst>
          </p:nvPr>
        </p:nvGraphicFramePr>
        <p:xfrm>
          <a:off x="825500" y="1475730"/>
          <a:ext cx="10553700" cy="3068240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Milestone</a:t>
                      </a:r>
                      <a:endParaRPr lang="en-US" sz="1300" dirty="0">
                        <a:solidFill>
                          <a:schemeClr val="accent1"/>
                        </a:solidFill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When</a:t>
                      </a:r>
                      <a:endParaRPr lang="en-US" sz="1300" dirty="0">
                        <a:solidFill>
                          <a:schemeClr val="accent1"/>
                        </a:solidFill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Overview agreed with supervisor, submitted, sent to second marker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By week 4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Draft report to second marker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Before week 9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Interim meeting, then interim report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Week 9, 2 to 6 Nov 2026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Datasets, ethics, guidelines, B1 and B2 built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End of Jan 2027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B3 and B4 built and tested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End of Feb 2027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Full evaluation, statistics, error analysis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End of Mar 2027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5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Dissertation, poster and evidence on Moodle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 Apr 2027, 3pm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7000" marR="1270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747171"/>
            <a:ext cx="10566400" cy="835620"/>
          </a:xfrm>
          <a:prstGeom prst="roundRect">
            <a:avLst>
              <a:gd name="adj" fmla="val 12159"/>
            </a:avLst>
          </a:prstGeom>
          <a:solidFill>
            <a:srgbClr val="E8F0FE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risk: ground truth. Public data rarely records who got hired, so I need human labels and will state their limits. Ethics and licence checks come before any real resume data.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0" i="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407120"/>
            <a:ext cx="544169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[1] European Commission, "ESCO: European Skills, Competences, Qualifications and Occupations." Accessed: Oct. 7, 2026. [Online]. Available: https://esco.ec.europa.eu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54496" y="1394420"/>
            <a:ext cx="544169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[6] A. Gugnani and H. Misra, "Implicit skills extraction using document embedding and its use in job recommendation," in Proc. AAAI Conf. Artif. Intell., vol. 34, no. 8, 2020, doi: 10.1609/aaai.v34i08.7038.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1978620"/>
            <a:ext cx="544169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[2] X. Yu et al., "ConFit v3: Improving resume-job matching with LLM-based re-ranking," arXiv:2605.09760, May 2026.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54496" y="1978620"/>
            <a:ext cx="544169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[7] C. Li et al., "Competence-level prediction and resume &amp; job description matching using context-aware transformer models," in Proc. EMNLP, 2020, arXiv:2011.02998.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417718"/>
            <a:ext cx="544169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[3] H. Iso, P. Pezeshkpour, N. Bhutani, and E. Hruschka, "Evaluating bias in LLMs for job-resume matching: Gender, race, and education," in Proc. NAACL (Industry Track), 2025, pp. 672-683, doi: 10.18653/v1/2025.naacl-industry.55.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54496" y="2550120"/>
            <a:ext cx="544169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[8] N. Goyal et al., "JobXMLC: Extreme multi-label classification of job skills with graph neural networks," in Findings ACL: EACL 2023, pp. 2181-2191, doi: 10.18653/v1/2023.findings-eacl.163.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121620"/>
            <a:ext cx="544169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[4] TalentCLEF 2027, "Task summary." Accessed: Oct. 7, 2026. [Online]. Available: https://talentclef.github.io/talentclef/docs/talentclef-2027/task-summary/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54496" y="3134320"/>
            <a:ext cx="544169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[9] B. Clavie and G. Soulie, "Large language models as batteries-included zero-shot ESCO skills matchers," in Proc. HR@RecSys 2023, arXiv:2307.03539.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693120"/>
            <a:ext cx="544169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[5] K. F. F. Jiechieu and N. Tsopze, "Skills prediction based on multi-label resume classification using CNN with model predictions explanation," Neural Comput. Appl., vol. 33, no. 10, pp. 5069-5087, May 2021, doi: 10.1007/s00521-020-05302-x.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54496" y="3693120"/>
            <a:ext cx="544169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[10] S. Vaishampayan et al., "Human and LLM-based resume matching: An observational study," in Findings ACL: NAACL 2025, pp. 4823-4838, doi: 10.18653/v1/2025.findings-naacl.270.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nours Project Overview">
  <a:themeElements>
    <a:clrScheme name="Honours Project Overview">
      <a:dk1>
        <a:srgbClr val="202124"/>
      </a:dk1>
      <a:lt1>
        <a:srgbClr val="FFFFFF"/>
      </a:lt1>
      <a:dk2>
        <a:srgbClr val="58595B"/>
      </a:dk2>
      <a:lt2>
        <a:srgbClr val="E9E9E9"/>
      </a:lt2>
      <a:accent1>
        <a:srgbClr val="1A73E8"/>
      </a:accent1>
      <a:accent2>
        <a:srgbClr val="3C4043"/>
      </a:accent2>
      <a:accent3>
        <a:srgbClr val="5F6368"/>
      </a:accent3>
      <a:accent4>
        <a:srgbClr val="9AA0A6"/>
      </a:accent4>
      <a:accent5>
        <a:srgbClr val="797A7C"/>
      </a:accent5>
      <a:accent6>
        <a:srgbClr val="9B9B9C"/>
      </a:accent6>
      <a:hlink>
        <a:srgbClr val="0563C1"/>
      </a:hlink>
      <a:folHlink>
        <a:srgbClr val="954F72"/>
      </a:folHlink>
    </a:clrScheme>
    <a:fontScheme name="Honours Project Overview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841</Words>
  <Application>Microsoft Macintosh PowerPoint</Application>
  <PresentationFormat>Widescreen</PresentationFormat>
  <Paragraphs>85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Roboto</vt:lpstr>
      <vt:lpstr>Honours Project Overview</vt:lpstr>
      <vt:lpstr>Does Skill-Level Inference Improve Resume-to-Job Matching?</vt:lpstr>
      <vt:lpstr>Research questions</vt:lpstr>
      <vt:lpstr>Four setups, one experiment</vt:lpstr>
      <vt:lpstr>Plan and milestones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Honours Project Overview</dc:title>
  <dc:subject/>
  <dc:creator/>
  <cp:lastModifiedBy>Sifat.siddiki@northsouth.edu</cp:lastModifiedBy>
  <cp:revision>2</cp:revision>
  <dcterms:created xsi:type="dcterms:W3CDTF">2026-10-08T04:39:34Z</dcterms:created>
  <dcterms:modified xsi:type="dcterms:W3CDTF">2026-10-08T04:47:26Z</dcterms:modified>
</cp:coreProperties>
</file>